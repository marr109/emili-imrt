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EMILI-IMRT: Optimización de Ángulos de Gantry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DD7EE"/>
                </a:solidFill>
              </a:rPr>
              <a:t>Beam Angle Optimization con ILS + FMO exacto (OSQP)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474720"/>
            <a:ext cx="57881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DD7EE"/>
                </a:solidFill>
              </a:rPr>
              <a:t>Avance de tesis  —  Reunión con profesor guía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Rodrigo Marrojas  | 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EMILI-IMRT BAO  |  Rodrigo Marrojas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74552" cy="50292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75E"/>
                </a:solidFill>
              </a:rPr>
              <a:t>1.  Problema IMRT y arquitectura del sistema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74552" cy="50292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762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75E"/>
                </a:solidFill>
              </a:rPr>
              <a:t>2.  Modificaciones al modelo y corrección de bugs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75E"/>
                </a:solidFill>
              </a:rPr>
              <a:t>3.  Calibración de parámetros con irace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1274552" cy="50292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564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75E"/>
                </a:solidFill>
              </a:rPr>
              <a:t>4.  Resultados obtenidos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11274552" cy="50292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75E"/>
                </a:solidFill>
              </a:rPr>
              <a:t>5.  Análisis de calidad del plan clínico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11274552" cy="50292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365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75E"/>
                </a:solidFill>
              </a:rPr>
              <a:t>6. 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Dos niveles de optimización anidados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EMILI-IMRT BAO  |  Rodrigo Marrojas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303520" cy="2377440"/>
          </a:xfrm>
          <a:prstGeom prst="rect">
            <a:avLst/>
          </a:prstGeom>
          <a:solidFill>
            <a:srgbClr val="BDD7EE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5E"/>
                </a:solidFill>
              </a:rPr>
              <a:t>BAO — Beam Angle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• ¿Qué K ángulos de gantry usar?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671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• Algoritmo: ILS con vecindario de intercambio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511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• Espacio: C(36, K) combinaciones discretas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35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• Acepta solo mejoras (improve)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194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▼  1 llamada OSQP
     por evaluación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325880"/>
            <a:ext cx="4114800" cy="2377440"/>
          </a:xfrm>
          <a:prstGeom prst="rect">
            <a:avLst/>
          </a:prstGeom>
          <a:solidFill>
            <a:srgbClr val="BDD7EE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371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5E"/>
                </a:solidFill>
              </a:rPr>
              <a:t>FMO — Fluence Map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783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• Dados los ángulos → optimizar intensidades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1671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• Solver exacto: OSQP (QP convexo)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5511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• Espacio: ℝ^(K × 157) continuo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93522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• Función obj: penaliza sub/sobredosis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11457432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Función objetivo FMO: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</a:rPr>
              <a:t>f  =  w_under · Σ max(0, 68 − dᵢ)²  +  w_over · Σ max(0, dⱼ − Dmax)²  +  w_ptv_over · Σ max(0, dᵢ − 72.8)²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34924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Instancia clínica: próstata CORT — 36 ángulos candidatos, 20,133 vóxeles, K=4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Modificaciones al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Correcciones críticas realizadas durante el desarrollo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EMILI-IMRT BAO  |  Rodrigo Marrojas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11548872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6245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1. Bug outer_iter  (emilibase.cpp)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7335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El puntero s-&gt;termcriterion apuntaba al criterio de terminación del LS interno.
Consecuencia: el ILS terminaba tras el primer reinicio en lugar de ejecutar outer_iter reinicios.
Corrección: null-check y asignación correcta del criterio externo.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60320"/>
            <a:ext cx="11548872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9689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2. Bug BOUND  (irace_prostate/target-runner)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07791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La línea BOUND=$1; shift consumía el primer argumento, desplazando todos los
parámetros del ILS una posición. irace 4.4.3 con capping=FALSE no envía {bound}.
Corrección: eliminación de la línea BOUND.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94760"/>
            <a:ext cx="11548872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3133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3. max_intensity mal configurado  (todas las instancias PROSTATE)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4223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Las instancias reales tenían max_intensity=10. Las dose rates son del orden 10⁻⁶,
por lo que OSQP entregaba dosis ≈ 0 Gy y f ≈ 31,000,000 (sin sentido clínico).
Corrección: max_intensity=15,000 en todas las instancias PROSTATE reales.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029200"/>
            <a:ext cx="11548872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06577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4. Peso sobredosis PTV  (w_ptv_over)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7667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Faltaba el término de penalización de sobredosis en PTV (&gt; 1.07 × Rx = 72.8 Gy)
en el archivo instance_config.txt de las instancias clínicas.
Corrección: añadido w_ptv_over 0.5 a PROSTATE_36ang y derivadas.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Instancias: Submuestreo para irace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Reducción de vóxeles para hacer viable la calibración computacional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EMILI-IMRT BAO  |  Rodrigo Marrojas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El caso clínico real (PROSTATE_36ang) tiene 20,133 vóxeles → ~32–64 min por evaluación.
Para irace (budget ~200,000 s CPU, ~52 experimentos) se generaron instancias submuestreadas
tomando una muestra aleatoria de vóxeles, manteniendo las proporciones relativas por 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3246120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505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Instancia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377440"/>
            <a:ext cx="1051560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45059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Vóxeles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377440"/>
            <a:ext cx="1325880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45059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Ángulos cand.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377440"/>
            <a:ext cx="1325880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45059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max_intensity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2377440"/>
            <a:ext cx="3154680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4505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52928"/>
            <a:ext cx="324612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26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MEDIUM_test (sintética)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2852928"/>
            <a:ext cx="105156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292608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852928"/>
            <a:ext cx="132588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9260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852928"/>
            <a:ext cx="132588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9260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10.0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852928"/>
            <a:ext cx="315468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29260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Tests rápidos (~20 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28416"/>
            <a:ext cx="3246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4015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PROSTATE_sampled_K4 (seed=2024)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328416"/>
            <a:ext cx="1051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340156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2,564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328416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34015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36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328416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4015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15,000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328416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34015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irace — entrenamiento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803904"/>
            <a:ext cx="324612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8770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PROSTATE_sampled2_K4 (seed=7777)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3803904"/>
            <a:ext cx="105156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03320" y="387705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2,564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3803904"/>
            <a:ext cx="132588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0600" y="387705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36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3803904"/>
            <a:ext cx="132588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387705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15,000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3803904"/>
            <a:ext cx="315468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38770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irace — entrenamiento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279392"/>
            <a:ext cx="324612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3525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PROSTATE_36ang (completa)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4279392"/>
            <a:ext cx="105156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03320" y="435254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20,133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4279392"/>
            <a:ext cx="132588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00600" y="43525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4279392"/>
            <a:ext cx="132588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43525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15,000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79" y="4279392"/>
            <a:ext cx="315468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43525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Validación clínica final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45720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78610"/>
                </a:solidFill>
              </a:rPr>
              <a:t>↑  Fila resaltada = instancia de validación final (no se usa en irace)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Tiempos por run (K=4, outer_iter=3):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394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MEDIUM_test  →  ~30 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742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PROSTATE_sampled_K4  →  ~64 min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0899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PROSTATE_36ang  →  ~5.5 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Calibración de Parámetros con irace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Búsqueda automática de la mejor configuración del 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EMILI-IMRT BAO  |  Rodrigo Marrojas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394960" cy="4846320"/>
          </a:xfrm>
          <a:prstGeom prst="rect">
            <a:avLst/>
          </a:prstGeom>
          <a:solidFill>
            <a:srgbClr val="F2F7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Espacio de parámetros explorado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1109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inner_explore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1109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04040"/>
                </a:solidFill>
              </a:rPr>
              <a:t>best  | 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768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</a:rPr>
              <a:t>Estrategia exploración vecindario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70632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07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inner_init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072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04040"/>
                </a:solidFill>
              </a:rPr>
              <a:t>ifirstk  |  irandomk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729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</a:rPr>
              <a:t>Solución inicial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66744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pert_swaps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03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04040"/>
                </a:solidFill>
              </a:rPr>
              <a:t>1  | 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</a:rPr>
              <a:t>Swaps en perturbación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62856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599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outer_iter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5994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04040"/>
                </a:solidFill>
              </a:rPr>
              <a:t>1  | 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9651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</a:rPr>
              <a:t>Reinicios 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325880"/>
            <a:ext cx="5943600" cy="4846320"/>
          </a:xfrm>
          <a:prstGeom prst="rect">
            <a:avLst/>
          </a:prstGeom>
          <a:solidFill>
            <a:srgbClr val="F2F7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Configuración del experimento irace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187451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Budget total: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187451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200,000 s CPU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3865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Paralelismo: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3865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4 cores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8986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Experimentos est.: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8986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~52 configuraciones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4107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Tiempo total est.: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4107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~14 horas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9227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Instancias entrenamiento: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922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PROSTATE_sampled_K4
PROSTATE_sampled2_K4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434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capping: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4434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FALSE (sin bound)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94690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Versión irace: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946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4.4.3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Configuración Ganadora (irace)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Mejor configuración hallada en instancias submuestreadas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EMILI-IMRT BAO  |  Rodrigo Marrojas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7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11548872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best improvement   |   ifirstk   |   pert_swaps = 1   |   outer_iter =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2743200" cy="2560320"/>
          </a:xfrm>
          <a:prstGeom prst="rect">
            <a:avLst/>
          </a:prstGeom>
          <a:solidFill>
            <a:srgbClr val="BDD7EE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0848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5E"/>
                </a:solidFill>
              </a:rPr>
              <a:t>Exploración vecindario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59" y="2487168"/>
            <a:ext cx="219456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256032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BEST
IMPROVEMENT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4930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Evalúa todos los vecinos
antes de moverse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7832" y="2011680"/>
            <a:ext cx="2743200" cy="2560320"/>
          </a:xfrm>
          <a:prstGeom prst="rect">
            <a:avLst/>
          </a:prstGeom>
          <a:solidFill>
            <a:srgbClr val="BDD7EE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20848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5E"/>
                </a:solidFill>
              </a:rPr>
              <a:t>Solución inicial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2487168"/>
            <a:ext cx="219456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256032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FIRST K
ANGLES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34930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Arranca con los primeros
K ángulos del catálogo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4" y="2011680"/>
            <a:ext cx="2743200" cy="2560320"/>
          </a:xfrm>
          <a:prstGeom prst="rect">
            <a:avLst/>
          </a:prstGeom>
          <a:solidFill>
            <a:srgbClr val="BDD7EE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20848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5E"/>
                </a:solidFill>
              </a:rPr>
              <a:t>Perturbación (swaps)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9944" y="2487168"/>
            <a:ext cx="219456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256032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 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34930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Intercambia 1 ángulo
activo ↔ inactivo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43416" y="2011680"/>
            <a:ext cx="2743200" cy="2560320"/>
          </a:xfrm>
          <a:prstGeom prst="rect">
            <a:avLst/>
          </a:prstGeom>
          <a:solidFill>
            <a:srgbClr val="BDD7EE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20848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5E"/>
                </a:solidFill>
              </a:rPr>
              <a:t>Reinicios 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17736" y="2487168"/>
            <a:ext cx="219456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17736" y="256032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 OUTER
ITER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34930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Perturba y re-aplica
el LS local 3 veces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754880"/>
            <a:ext cx="11548872" cy="822960"/>
          </a:xfrm>
          <a:prstGeom prst="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</a:rPr>
              <a:t>⚠  Nota importante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120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Esta configuración fue obtenida con max_intensity=10 (valor incorrecto). Tras corregir a max_intensity=15,000, los resultados del FMO cambian sustancialmente. Se requiere re-ejecutar irace para obtener una calibración válida.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— Instancia Submuestreada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PROSTATE_sampled_K4  |  K=4  |  36 ángulos candidatos  |  2,564 vóxeles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EMILI-IMRT BAO  |  Rodrigo Marrojas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41148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Ángulos seleccionados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75E"/>
                </a:solidFill>
              </a:rPr>
              <a:t>0°  —  100°  —  130°  —  220°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4114800" cy="640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9280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A375E"/>
                </a:solidFill>
              </a:rPr>
              <a:t>0°  —  100°  —  130°  —  220°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25880"/>
            <a:ext cx="2926080" cy="1097280"/>
          </a:xfrm>
          <a:prstGeom prst="rect">
            <a:avLst/>
          </a:prstGeom>
          <a:solidFill>
            <a:srgbClr val="E2EFDA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10"/>
                </a:solidFill>
              </a:rPr>
              <a:t>Función objetivo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78610"/>
                </a:solidFill>
              </a:rPr>
              <a:t>8,329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325880"/>
            <a:ext cx="4114800" cy="109728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Tiempo ejecución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7373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375E"/>
                </a:solidFill>
              </a:rPr>
              <a:t>31 min 44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51760"/>
            <a:ext cx="2697480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" y="27249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651760"/>
            <a:ext cx="1965960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7249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Obtenido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2651760"/>
            <a:ext cx="2240280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7249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Meta clínica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2651760"/>
            <a:ext cx="1691639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24912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Estado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108960"/>
            <a:ext cx="269748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9" y="3182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PTV D95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108960"/>
            <a:ext cx="196596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3182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62.29 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3108960"/>
            <a:ext cx="224028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1821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≥ 64.60 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3108960"/>
            <a:ext cx="1691639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182112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</a:rPr>
              <a:t>⚠ Bajo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56616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59" y="3639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PTV V95%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356616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36393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88.6 %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3566160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100 %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3566160"/>
            <a:ext cx="169163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3639312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</a:rPr>
              <a:t>⚠ Bajo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023360"/>
            <a:ext cx="269748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59" y="40965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PTV Dmax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40" y="4023360"/>
            <a:ext cx="196596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0" y="40965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74.40 Gy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4023360"/>
            <a:ext cx="224028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0" y="40965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≤ 72.76 Gy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4023360"/>
            <a:ext cx="1691639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4096512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</a:rPr>
              <a:t>⚠ Leve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48056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59" y="45537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Vejiga Dmax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448056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0" y="45537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70.05 Gy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74920" y="4480560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0" y="45537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≤ 50 Gy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4480560"/>
            <a:ext cx="169163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4553712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</a:rPr>
              <a:t>✗ Viola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4937760"/>
            <a:ext cx="269748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59" y="50109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Recto Dmax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4937760"/>
            <a:ext cx="196596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50109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60.40 Gy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74920" y="4937760"/>
            <a:ext cx="224028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0" y="50109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≤ 50 Gy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60920" y="4937760"/>
            <a:ext cx="1691639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06640" y="5010912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</a:rPr>
              <a:t>✗ Viola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5669280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Las violaciones de Dmax en OARs son puntuales (1-2 vóxeles). La instancia submuestreada subestima la cobertura real del PTV.
Validación clínica definitiva se realizará en PROSTATE_36ang (20,133 vóxeles).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Análisis de Calidad del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Índices clínicos estándar — instancia submuestreada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EMILI-IMRT BAO  |  Rodrigo Marrojas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9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1548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1790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CI — Conformidad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179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V_Rx / V_PTV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508760"/>
            <a:ext cx="2286000" cy="3657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Ideal: 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299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Fracción del volumen del plan que cae dentro del PTV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60320"/>
            <a:ext cx="11548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151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HI — Homogeneidad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151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(D2 − D98) / Rx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606039"/>
            <a:ext cx="2286000" cy="3657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651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Ideal: 0.0  (cuanto menor, mejor)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Uniformidad de dosis dentro del PTV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657600"/>
            <a:ext cx="11548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124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V95%Rx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712463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% PTV con dosis ≥ 0.95×Rx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703320"/>
            <a:ext cx="2286000" cy="3657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374903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Ideal: 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24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Cobertura del volumen tumoral con dosis terapéutica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754880"/>
            <a:ext cx="11548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097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D95 PTV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8097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Dosis en el 95% del PTV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800600"/>
            <a:ext cx="2286000" cy="3657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4846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Ideal: ≥ 64.60 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21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Obtenido: 62.29 Gy en instancia submuestreada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943600"/>
            <a:ext cx="11548872" cy="594360"/>
          </a:xfrm>
          <a:prstGeom prst="rect">
            <a:avLst/>
          </a:prstGeom>
          <a:solidFill>
            <a:srgbClr val="E2EFDA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89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Interpretación: f=8,329 indica violaciones menores. El plan tiene cobertura PTV subóptima en la instancia submuestreada pero estructura clínica válida. Se espera mejoría al validar en la instancia completa con re-calibración de irace.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Próximos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EMILI-IMRT BAO  |  Rodrigo Marrojas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48872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6400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099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087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5E"/>
                </a:solidFill>
              </a:rPr>
              <a:t>Re-ejecutar irace con max_intensity = 15,000 (correcto)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~14 h  |  4 cores  |  instancias: PROSTATE_sampled_K4 + sampled2_K4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51760"/>
            <a:ext cx="11548872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651760"/>
            <a:ext cx="6400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432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5E"/>
                </a:solidFill>
              </a:rPr>
              <a:t>Validar configuración ganadora en instancia clínica completa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PROSTATE_36ang  |  20,133 vóxeles  |  ~5.5 h por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86200"/>
            <a:ext cx="11548872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886200"/>
            <a:ext cx="6400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1788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77639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5E"/>
                </a:solidFill>
              </a:rPr>
              <a:t>Analizar cobertura PTV y cumplimiento de restricciones OAR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D95 ≥ 64.60 Gy  |  Vejiga/Recto Dmax ≤ 50 Gy  |  comparar CI y HI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120640"/>
            <a:ext cx="11548872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5120640"/>
            <a:ext cx="640080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4132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212079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5E"/>
                </a:solidFill>
              </a:rPr>
              <a:t>Explorar variantes BAO (opcional)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6927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VNS o búsqueda tabú para mejorar diversificación — si la calidad no satisface con 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